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8714D-A2C2-0BB5-2040-C419277530FA}" v="990" dt="2025-11-09T21:28:36.335"/>
    <p1510:client id="{C7E05271-9A1D-B826-AB3B-B93D6F11FAFD}" v="508" dt="2025-11-10T02:48:52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39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01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3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143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75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0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39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9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236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3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31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663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269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791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941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000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04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25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3785" y="1380068"/>
            <a:ext cx="4978303" cy="2616199"/>
          </a:xfrm>
        </p:spPr>
        <p:txBody>
          <a:bodyPr>
            <a:normAutofit/>
          </a:bodyPr>
          <a:lstStyle/>
          <a:p>
            <a:r>
              <a:rPr lang="en-US" dirty="0"/>
              <a:t>Tag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1575" y="3996267"/>
            <a:ext cx="4080514" cy="11391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Chris Myhre, Josh Henderson &amp; Tristan Hibbard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CS-440-01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November 12, 2025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95DB57EE-F280-4C39-98FB-CD03D3A20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648931"/>
            <a:ext cx="3982086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car&#10;&#10;AI-generated content may be incorrect.">
            <a:extLst>
              <a:ext uri="{FF2B5EF4-FFF2-40B4-BE49-F238E27FC236}">
                <a16:creationId xmlns:a16="http://schemas.microsoft.com/office/drawing/2014/main" id="{B1CEAE7C-4851-3E33-5DA0-31CB59D1B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858" y="823586"/>
            <a:ext cx="3657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BE86A-9C3D-2A8B-AAFE-BE35F6DA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7882-2CB8-A82E-738F-BABDDD4ED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Why: To ensure people park where they're supposed to</a:t>
            </a:r>
          </a:p>
          <a:p>
            <a:pPr>
              <a:buClr>
                <a:srgbClr val="1287C3"/>
              </a:buClr>
            </a:pPr>
            <a:r>
              <a:rPr lang="en-US" dirty="0"/>
              <a:t>Use Cases: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Smart City Surveillance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Access Control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Public Safety</a:t>
            </a:r>
          </a:p>
        </p:txBody>
      </p:sp>
      <p:pic>
        <p:nvPicPr>
          <p:cNvPr id="4" name="Picture 3" descr="Security Camera Stock Illustrations ...">
            <a:extLst>
              <a:ext uri="{FF2B5EF4-FFF2-40B4-BE49-F238E27FC236}">
                <a16:creationId xmlns:a16="http://schemas.microsoft.com/office/drawing/2014/main" id="{EB3EE524-6CD8-2257-D811-DD4AB84F6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507" y="4236342"/>
            <a:ext cx="2143125" cy="2143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A close-up of a car windshield&#10;&#10;AI-generated content may be incorrect.">
            <a:extLst>
              <a:ext uri="{FF2B5EF4-FFF2-40B4-BE49-F238E27FC236}">
                <a16:creationId xmlns:a16="http://schemas.microsoft.com/office/drawing/2014/main" id="{8CB4FC90-C8A3-ACD4-2E5C-B78C4B4303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08902" y="4031740"/>
            <a:ext cx="2683117" cy="2012338"/>
          </a:xfrm>
          <a:prstGeom prst="rect">
            <a:avLst/>
          </a:prstGeom>
        </p:spPr>
      </p:pic>
      <p:pic>
        <p:nvPicPr>
          <p:cNvPr id="8" name="Picture 7" descr="A car with a sign on the windshield&#10;&#10;AI-generated content may be incorrect.">
            <a:extLst>
              <a:ext uri="{FF2B5EF4-FFF2-40B4-BE49-F238E27FC236}">
                <a16:creationId xmlns:a16="http://schemas.microsoft.com/office/drawing/2014/main" id="{20E5234A-AF12-2E33-ACAC-8E9CEFEF89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138" y="4571999"/>
            <a:ext cx="3213275" cy="180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00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A278-E12B-87FD-9297-9981FF68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05AC6-E513-793E-EEF8-F2AFF952A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Accurately detect the presence of parking passes</a:t>
            </a:r>
          </a:p>
          <a:p>
            <a:pPr>
              <a:buClr>
                <a:srgbClr val="1287C3"/>
              </a:buClr>
            </a:pPr>
            <a:r>
              <a:rPr lang="en-US" dirty="0"/>
              <a:t>Capture a variety of car tags from different angles</a:t>
            </a:r>
          </a:p>
          <a:p>
            <a:pPr>
              <a:buClr>
                <a:srgbClr val="1287C3"/>
              </a:buClr>
            </a:pPr>
            <a:r>
              <a:rPr lang="en-US" dirty="0"/>
              <a:t>Create a model that could be used for automated tag detection</a:t>
            </a:r>
          </a:p>
        </p:txBody>
      </p:sp>
      <p:pic>
        <p:nvPicPr>
          <p:cNvPr id="4" name="Picture 3" descr="Free Target SVG, PNG Icon, Symbol ...">
            <a:extLst>
              <a:ext uri="{FF2B5EF4-FFF2-40B4-BE49-F238E27FC236}">
                <a16:creationId xmlns:a16="http://schemas.microsoft.com/office/drawing/2014/main" id="{C8D1F286-B762-48EA-474B-B403E550B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752" y="41590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99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21A7-C249-0D32-7983-0B6E38F6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11CB2-DF17-E433-D711-B0741BECC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93931"/>
            <a:ext cx="10018713" cy="4021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Phone Images: 152</a:t>
            </a:r>
          </a:p>
          <a:p>
            <a:pPr>
              <a:buClr>
                <a:srgbClr val="1287C3"/>
              </a:buClr>
            </a:pPr>
            <a:r>
              <a:rPr lang="en-US" dirty="0"/>
              <a:t>Drone Images: 50</a:t>
            </a:r>
          </a:p>
          <a:p>
            <a:pPr>
              <a:buClr>
                <a:srgbClr val="1287C3"/>
              </a:buClr>
            </a:pPr>
            <a:r>
              <a:rPr lang="en-US" dirty="0"/>
              <a:t>Photo Conditions: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Variety of angles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Variety of parking pass obstructions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Variety of brightness of images</a:t>
            </a:r>
          </a:p>
          <a:p>
            <a:pPr>
              <a:buClr>
                <a:srgbClr val="1287C3"/>
              </a:buClr>
            </a:pPr>
            <a:r>
              <a:rPr lang="en-US" dirty="0"/>
              <a:t>Challenges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Window reflections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Sun blockage</a:t>
            </a:r>
          </a:p>
        </p:txBody>
      </p:sp>
      <p:pic>
        <p:nvPicPr>
          <p:cNvPr id="5" name="Picture 4" descr="Fire Phone - Wikipedia">
            <a:extLst>
              <a:ext uri="{FF2B5EF4-FFF2-40B4-BE49-F238E27FC236}">
                <a16:creationId xmlns:a16="http://schemas.microsoft.com/office/drawing/2014/main" id="{77317661-C284-5DD6-FF0C-F6B2F022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635" y="4780637"/>
            <a:ext cx="2466975" cy="1847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Buy DJI Mini 4K - DJI Store">
            <a:extLst>
              <a:ext uri="{FF2B5EF4-FFF2-40B4-BE49-F238E27FC236}">
                <a16:creationId xmlns:a16="http://schemas.microsoft.com/office/drawing/2014/main" id="{FA98C59B-0B18-6AC0-D999-9AEA4960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635" y="2859980"/>
            <a:ext cx="2466975" cy="1847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13868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5623-A854-85F6-7D1E-94A2339A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96D0-0B44-4208-EB98-8ECDBE6B8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Roboflow</a:t>
            </a:r>
            <a:r>
              <a:rPr lang="en-US" dirty="0"/>
              <a:t> annotation service</a:t>
            </a:r>
          </a:p>
          <a:p>
            <a:pPr>
              <a:buClr>
                <a:srgbClr val="1287C3"/>
              </a:buClr>
            </a:pPr>
            <a:r>
              <a:rPr lang="en-US" dirty="0"/>
              <a:t>Upload Images</a:t>
            </a:r>
          </a:p>
          <a:p>
            <a:pPr>
              <a:buClr>
                <a:srgbClr val="1287C3"/>
              </a:buClr>
            </a:pPr>
            <a:r>
              <a:rPr lang="en-US" dirty="0"/>
              <a:t>Split the photos amongst team members to annotate</a:t>
            </a:r>
          </a:p>
          <a:p>
            <a:pPr>
              <a:buClr>
                <a:srgbClr val="1287C3"/>
              </a:buClr>
            </a:pPr>
            <a:r>
              <a:rPr lang="en-US" dirty="0"/>
              <a:t>Annotate and add to dataset</a:t>
            </a:r>
          </a:p>
          <a:p>
            <a:pPr>
              <a:buClr>
                <a:srgbClr val="1287C3"/>
              </a:buClr>
            </a:pPr>
            <a:r>
              <a:rPr lang="en-US" dirty="0"/>
              <a:t>Export dataset</a:t>
            </a:r>
          </a:p>
        </p:txBody>
      </p:sp>
      <p:pic>
        <p:nvPicPr>
          <p:cNvPr id="4" name="Picture 3" descr="Roboflow - YouTube">
            <a:extLst>
              <a:ext uri="{FF2B5EF4-FFF2-40B4-BE49-F238E27FC236}">
                <a16:creationId xmlns:a16="http://schemas.microsoft.com/office/drawing/2014/main" id="{51890EDD-781F-8C98-7444-1159C29E5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383" y="4361602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69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3C21-ECA2-473C-6A2E-97AB55F4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YOLOv11 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C1724-B9B1-2717-E005-AF374AFD3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95354"/>
            <a:ext cx="2948511" cy="44745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Preprocessing Steps</a:t>
            </a:r>
          </a:p>
          <a:p>
            <a:pPr lvl="1">
              <a:buClr>
                <a:srgbClr val="1287C3"/>
              </a:buClr>
            </a:pPr>
            <a:r>
              <a:rPr lang="en-US" dirty="0"/>
              <a:t>Auto-Orient</a:t>
            </a:r>
          </a:p>
          <a:p>
            <a:pPr lvl="1">
              <a:buClr>
                <a:srgbClr val="1287C3"/>
              </a:buClr>
            </a:pPr>
            <a:r>
              <a:rPr lang="en-US" dirty="0"/>
              <a:t>Resize to 512 x 512</a:t>
            </a:r>
          </a:p>
          <a:p>
            <a:pPr lvl="1">
              <a:buClr>
                <a:srgbClr val="1287C3"/>
              </a:buClr>
            </a:pPr>
            <a:r>
              <a:rPr lang="en-US" dirty="0"/>
              <a:t>Grayscale</a:t>
            </a:r>
          </a:p>
          <a:p>
            <a:pPr>
              <a:buClr>
                <a:srgbClr val="1287C3"/>
              </a:buClr>
            </a:pPr>
            <a:r>
              <a:rPr lang="en-US" dirty="0"/>
              <a:t>Augmentation Steps</a:t>
            </a:r>
          </a:p>
          <a:p>
            <a:pPr lvl="1">
              <a:buClr>
                <a:srgbClr val="1287C3"/>
              </a:buClr>
            </a:pPr>
            <a:r>
              <a:rPr lang="en-US" dirty="0"/>
              <a:t>Blur</a:t>
            </a:r>
          </a:p>
          <a:p>
            <a:pPr lvl="1">
              <a:buClr>
                <a:srgbClr val="1287C3"/>
              </a:buClr>
            </a:pPr>
            <a:r>
              <a:rPr lang="en-US" dirty="0"/>
              <a:t>Exposure</a:t>
            </a:r>
          </a:p>
          <a:p>
            <a:pPr>
              <a:buClr>
                <a:srgbClr val="1287C3"/>
              </a:buClr>
            </a:pPr>
            <a:r>
              <a:rPr lang="en-US" dirty="0"/>
              <a:t>Training Steps</a:t>
            </a:r>
          </a:p>
          <a:p>
            <a:pPr lvl="1">
              <a:buClr>
                <a:srgbClr val="1287C3"/>
              </a:buClr>
            </a:pPr>
            <a:r>
              <a:rPr lang="en-US"/>
              <a:t>Epochs: 50</a:t>
            </a:r>
          </a:p>
          <a:p>
            <a:pPr lvl="1">
              <a:buClr>
                <a:srgbClr val="1287C3"/>
              </a:buClr>
            </a:pPr>
            <a:r>
              <a:rPr lang="en-US" dirty="0"/>
              <a:t>Batch: 16</a:t>
            </a:r>
          </a:p>
          <a:p>
            <a:pPr lvl="1">
              <a:buClr>
                <a:srgbClr val="1287C3"/>
              </a:buClr>
            </a:pPr>
            <a:r>
              <a:rPr lang="en-US" dirty="0" err="1"/>
              <a:t>Imgsz</a:t>
            </a:r>
            <a:r>
              <a:rPr lang="en-US" dirty="0"/>
              <a:t>: 640</a:t>
            </a:r>
          </a:p>
        </p:txBody>
      </p:sp>
      <p:pic>
        <p:nvPicPr>
          <p:cNvPr id="5" name="Picture 4" descr="grey scale Color Palette">
            <a:extLst>
              <a:ext uri="{FF2B5EF4-FFF2-40B4-BE49-F238E27FC236}">
                <a16:creationId xmlns:a16="http://schemas.microsoft.com/office/drawing/2014/main" id="{2FB7650A-DA6C-B174-3089-B6B0DC098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003" y="2441532"/>
            <a:ext cx="2743200" cy="1828800"/>
          </a:xfrm>
          <a:prstGeom prst="rect">
            <a:avLst/>
          </a:prstGeom>
        </p:spPr>
      </p:pic>
      <p:pic>
        <p:nvPicPr>
          <p:cNvPr id="6" name="Picture 5" descr="Blur background Vectors - Download Free ...">
            <a:extLst>
              <a:ext uri="{FF2B5EF4-FFF2-40B4-BE49-F238E27FC236}">
                <a16:creationId xmlns:a16="http://schemas.microsoft.com/office/drawing/2014/main" id="{11E0839E-BB01-42CC-68A5-A88D0ED9C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424" y="4716506"/>
            <a:ext cx="2226632" cy="2143125"/>
          </a:xfrm>
          <a:prstGeom prst="rect">
            <a:avLst/>
          </a:prstGeom>
        </p:spPr>
      </p:pic>
      <p:pic>
        <p:nvPicPr>
          <p:cNvPr id="7" name="Picture 6" descr="Icon Resize #313394 - Free Icons Library">
            <a:extLst>
              <a:ext uri="{FF2B5EF4-FFF2-40B4-BE49-F238E27FC236}">
                <a16:creationId xmlns:a16="http://schemas.microsoft.com/office/drawing/2014/main" id="{D8297668-CE51-0594-32E2-0B6CC57C5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50" y="471650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17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410A-1581-7486-B1DE-5006E14D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755A-A8FA-71AE-1AD3-25BAF33DD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5116516" cy="3124201"/>
          </a:xfrm>
        </p:spPr>
        <p:txBody>
          <a:bodyPr>
            <a:normAutofit/>
          </a:bodyPr>
          <a:lstStyle/>
          <a:p>
            <a:r>
              <a:rPr lang="en-US" dirty="0"/>
              <a:t>Mean Precision (</a:t>
            </a:r>
            <a:r>
              <a:rPr lang="en-US" dirty="0" err="1"/>
              <a:t>mP</a:t>
            </a:r>
            <a:r>
              <a:rPr lang="en-US" dirty="0"/>
              <a:t>): 0.970</a:t>
            </a:r>
          </a:p>
          <a:p>
            <a:pPr>
              <a:buClr>
                <a:srgbClr val="1287C3"/>
              </a:buClr>
            </a:pPr>
            <a:r>
              <a:rPr lang="en-US" dirty="0"/>
              <a:t>Mean Recall (</a:t>
            </a:r>
            <a:r>
              <a:rPr lang="en-US" dirty="0" err="1"/>
              <a:t>mP</a:t>
            </a:r>
            <a:r>
              <a:rPr lang="en-US" dirty="0"/>
              <a:t>): 0.949</a:t>
            </a:r>
          </a:p>
          <a:p>
            <a:pPr>
              <a:buClr>
                <a:srgbClr val="1287C3"/>
              </a:buClr>
            </a:pPr>
            <a:r>
              <a:rPr lang="en-US" dirty="0" err="1"/>
              <a:t>mAP</a:t>
            </a:r>
            <a:r>
              <a:rPr lang="en-US" dirty="0"/>
              <a:t> @ 0.5: 0.971</a:t>
            </a:r>
          </a:p>
          <a:p>
            <a:pPr>
              <a:buClr>
                <a:srgbClr val="1287C3"/>
              </a:buClr>
            </a:pPr>
            <a:r>
              <a:rPr lang="en-US" dirty="0" err="1">
                <a:latin typeface="Corbel"/>
              </a:rPr>
              <a:t>mAP</a:t>
            </a:r>
            <a:r>
              <a:rPr lang="en-US" dirty="0">
                <a:latin typeface="Corbel"/>
              </a:rPr>
              <a:t> @ 0.5:0.95: 0.686</a:t>
            </a:r>
          </a:p>
        </p:txBody>
      </p:sp>
      <p:pic>
        <p:nvPicPr>
          <p:cNvPr id="5" name="Picture 4" descr="A blue and white graph&#10;&#10;AI-generated content may be incorrect.">
            <a:extLst>
              <a:ext uri="{FF2B5EF4-FFF2-40B4-BE49-F238E27FC236}">
                <a16:creationId xmlns:a16="http://schemas.microsoft.com/office/drawing/2014/main" id="{899C0CE7-BC85-B7ED-FFA0-9845B1C7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89" r="11803" b="4950"/>
          <a:stretch>
            <a:fillRect/>
          </a:stretch>
        </p:blipFill>
        <p:spPr>
          <a:xfrm>
            <a:off x="6910192" y="2167743"/>
            <a:ext cx="5036064" cy="45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73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A9A6-1CF5-31D2-4EA6-2E2350EE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 of Predictions</a:t>
            </a:r>
          </a:p>
        </p:txBody>
      </p:sp>
      <p:pic>
        <p:nvPicPr>
          <p:cNvPr id="4" name="Picture 3" descr="A car with a tag on the window&#10;&#10;AI-generated content may be incorrect.">
            <a:extLst>
              <a:ext uri="{FF2B5EF4-FFF2-40B4-BE49-F238E27FC236}">
                <a16:creationId xmlns:a16="http://schemas.microsoft.com/office/drawing/2014/main" id="{E7161956-3434-AB2B-85AC-A4DA832B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1" y="2148069"/>
            <a:ext cx="2391652" cy="3128839"/>
          </a:xfrm>
          <a:prstGeom prst="rect">
            <a:avLst/>
          </a:prstGeom>
        </p:spPr>
      </p:pic>
      <p:pic>
        <p:nvPicPr>
          <p:cNvPr id="5" name="Picture 4" descr="A close-up of a car&amp;#39;s interior&#10;&#10;AI-generated content may be incorrect.">
            <a:extLst>
              <a:ext uri="{FF2B5EF4-FFF2-40B4-BE49-F238E27FC236}">
                <a16:creationId xmlns:a16="http://schemas.microsoft.com/office/drawing/2014/main" id="{BBA2303F-91E2-E2F2-C2F5-9970EA7D1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786" y="2148068"/>
            <a:ext cx="2391653" cy="3128839"/>
          </a:xfrm>
          <a:prstGeom prst="rect">
            <a:avLst/>
          </a:prstGeom>
        </p:spPr>
      </p:pic>
      <p:pic>
        <p:nvPicPr>
          <p:cNvPr id="8" name="Picture 7" descr="A close-up of a car&amp;#39;s interior&#10;&#10;AI-generated content may be incorrect.">
            <a:extLst>
              <a:ext uri="{FF2B5EF4-FFF2-40B4-BE49-F238E27FC236}">
                <a16:creationId xmlns:a16="http://schemas.microsoft.com/office/drawing/2014/main" id="{9A01F10B-7B2F-F77E-1DCD-6A2FEA754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141" y="2148067"/>
            <a:ext cx="2391653" cy="3128839"/>
          </a:xfrm>
          <a:prstGeom prst="rect">
            <a:avLst/>
          </a:prstGeom>
        </p:spPr>
      </p:pic>
      <p:pic>
        <p:nvPicPr>
          <p:cNvPr id="9" name="Picture 8" descr="A close-up of a car&#10;&#10;AI-generated content may be incorrect.">
            <a:extLst>
              <a:ext uri="{FF2B5EF4-FFF2-40B4-BE49-F238E27FC236}">
                <a16:creationId xmlns:a16="http://schemas.microsoft.com/office/drawing/2014/main" id="{9BFB9C1D-C690-CA72-A1F6-0BE6EEC5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186" y="2149257"/>
            <a:ext cx="2394560" cy="313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78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29B79D6A-B7AE-CE7C-C15F-643DB46A7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59" r="42740" b="-3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DBE394-737C-042B-3877-C28091725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Error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42F54-48E5-31F3-66D0-E363E7AC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r>
              <a:rPr lang="en-US" sz="2000" dirty="0"/>
              <a:t>Potential Reasons for Error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Photos taken at one time of day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Photos taken primary on a sunny day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Tags didn't take up more of the photo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Glare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Window reflections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1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D9F6-E69B-72E0-09B8-DC07CF43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775AC-D0F4-8FD8-9FCF-1C5B8471E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287C3"/>
              </a:buClr>
            </a:pPr>
            <a:r>
              <a:rPr lang="en-US" dirty="0"/>
              <a:t>Move camera closer to parking pass</a:t>
            </a:r>
          </a:p>
          <a:p>
            <a:pPr>
              <a:buClr>
                <a:srgbClr val="1287C3"/>
              </a:buClr>
            </a:pPr>
            <a:r>
              <a:rPr lang="en-US" dirty="0"/>
              <a:t>Take photos at a variety of times of day</a:t>
            </a:r>
          </a:p>
          <a:p>
            <a:pPr>
              <a:buClr>
                <a:srgbClr val="1287C3"/>
              </a:buClr>
            </a:pPr>
            <a:r>
              <a:rPr lang="en-US" dirty="0"/>
              <a:t>Take photos in a variety of weather conditions</a:t>
            </a:r>
          </a:p>
          <a:p>
            <a:pPr>
              <a:buClr>
                <a:srgbClr val="1287C3"/>
              </a:buClr>
            </a:pPr>
            <a:r>
              <a:rPr lang="en-US" dirty="0"/>
              <a:t>Experiment more with photo modifications in </a:t>
            </a:r>
            <a:r>
              <a:rPr lang="en-US" dirty="0" err="1"/>
              <a:t>Roboflow</a:t>
            </a:r>
          </a:p>
          <a:p>
            <a:pPr>
              <a:buClr>
                <a:srgbClr val="1287C3"/>
              </a:buClr>
            </a:pPr>
            <a:r>
              <a:rPr lang="en-US" dirty="0"/>
              <a:t>Take more photos</a:t>
            </a:r>
          </a:p>
        </p:txBody>
      </p:sp>
      <p:pic>
        <p:nvPicPr>
          <p:cNvPr id="4" name="Picture 3" descr="Camera Clipart Images | Free Download ...">
            <a:extLst>
              <a:ext uri="{FF2B5EF4-FFF2-40B4-BE49-F238E27FC236}">
                <a16:creationId xmlns:a16="http://schemas.microsoft.com/office/drawing/2014/main" id="{16C9805F-A483-B317-A1D4-5BCD9E18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052" y="448915"/>
            <a:ext cx="2619375" cy="17430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26475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BC72-9F49-EEC8-C95E-75728366F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97D3-CFBF-4DC3-550F-0D5A9FA4D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Accuracy: 0.970</a:t>
            </a:r>
          </a:p>
          <a:p>
            <a:pPr>
              <a:buClr>
                <a:srgbClr val="1287C3"/>
              </a:buClr>
            </a:pPr>
            <a:r>
              <a:rPr lang="en-US" dirty="0"/>
              <a:t>Take photos in more of a variety of conditions</a:t>
            </a:r>
          </a:p>
          <a:p>
            <a:pPr>
              <a:buClr>
                <a:srgbClr val="1287C3"/>
              </a:buClr>
            </a:pPr>
            <a:r>
              <a:rPr lang="en-US" dirty="0"/>
              <a:t>Experiment more with </a:t>
            </a:r>
            <a:r>
              <a:rPr lang="en-US" err="1"/>
              <a:t>Roboflow</a:t>
            </a:r>
            <a:r>
              <a:rPr lang="en-US" dirty="0"/>
              <a:t> filters on photos</a:t>
            </a:r>
          </a:p>
          <a:p>
            <a:pPr>
              <a:buClr>
                <a:srgbClr val="1287C3"/>
              </a:buClr>
            </a:pPr>
            <a:r>
              <a:rPr lang="en-US" dirty="0"/>
              <a:t>Take more photos</a:t>
            </a:r>
          </a:p>
          <a:p>
            <a:pPr>
              <a:buClr>
                <a:srgbClr val="1287C3"/>
              </a:buClr>
            </a:pPr>
            <a:r>
              <a:rPr lang="en-US" dirty="0"/>
              <a:t>Overall, good performance</a:t>
            </a:r>
          </a:p>
        </p:txBody>
      </p:sp>
      <p:pic>
        <p:nvPicPr>
          <p:cNvPr id="4" name="Picture 3" descr="Vector clip art of weather forecast ...">
            <a:extLst>
              <a:ext uri="{FF2B5EF4-FFF2-40B4-BE49-F238E27FC236}">
                <a16:creationId xmlns:a16="http://schemas.microsoft.com/office/drawing/2014/main" id="{D879B0F2-B7B4-D51B-CD1A-406D9B28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191" y="1835520"/>
            <a:ext cx="2143125" cy="2143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Rainy Weather clip art Free Vector ...">
            <a:extLst>
              <a:ext uri="{FF2B5EF4-FFF2-40B4-BE49-F238E27FC236}">
                <a16:creationId xmlns:a16="http://schemas.microsoft.com/office/drawing/2014/main" id="{39268DEE-B217-41C8-CA02-29AB5F7FA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255" y="4494561"/>
            <a:ext cx="2148997" cy="20442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4507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272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Courier New</vt:lpstr>
      <vt:lpstr>Parallax</vt:lpstr>
      <vt:lpstr>Tag Detection</vt:lpstr>
      <vt:lpstr>Motivation &amp; Problem Statement</vt:lpstr>
      <vt:lpstr>Project Objectives</vt:lpstr>
      <vt:lpstr>Data Collection</vt:lpstr>
      <vt:lpstr>Annotation Process</vt:lpstr>
      <vt:lpstr>YOLOv11 Training Setup</vt:lpstr>
      <vt:lpstr>Results &amp; Metrics</vt:lpstr>
      <vt:lpstr>Visualizations of Predictions</vt:lpstr>
      <vt:lpstr>Error Analysis</vt:lpstr>
      <vt:lpstr>Future Improvements</vt:lpstr>
      <vt:lpstr>Conclusions &amp;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Christopher Myhre</cp:lastModifiedBy>
  <cp:revision>296</cp:revision>
  <dcterms:created xsi:type="dcterms:W3CDTF">2025-11-09T21:11:51Z</dcterms:created>
  <dcterms:modified xsi:type="dcterms:W3CDTF">2025-11-12T17:17:08Z</dcterms:modified>
</cp:coreProperties>
</file>